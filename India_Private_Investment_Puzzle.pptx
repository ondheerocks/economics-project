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94960"/>
            <a:ext cx="12188952" cy="1645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India's Private Investment Puzzle:
Still Not Picking Up?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200400"/>
            <a:ext cx="94457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DDFF"/>
                </a:solidFill>
                <a:latin typeface="Calibri"/>
              </a:rPr>
              <a:t>A Macroeconomic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BBDD"/>
                </a:solidFill>
                <a:latin typeface="Calibri"/>
              </a:rPr>
              <a:t>Group D3:  Brunda Mary C P  •  Darshan A S  •  Dheemanth D  •  Dheeraj R  •  Likhith Yadav S  •  Gella Chidvilas Aryan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7043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Macroeconomic Paradox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E4A7A"/>
                </a:solidFill>
                <a:latin typeface="Calibri"/>
              </a:rPr>
              <a:t>Theory (Mankiw): Investment (I) is the most volatile component of GDP  →  AD = C + I + G + NX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11612880" cy="5029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</a:rPr>
              <a:t>The Paradox:  Government spending (G) is driving demand, but the Private Investment multiplier is lagging.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874519"/>
            <a:ext cx="2743200" cy="2560320"/>
          </a:xfrm>
          <a:prstGeom prst="rect">
            <a:avLst/>
          </a:prstGeom>
          <a:solidFill>
            <a:srgbClr val="F8F9FA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874519"/>
            <a:ext cx="274320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892807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Real GDP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2212848"/>
            <a:ext cx="25968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7AE60"/>
                </a:solidFill>
                <a:latin typeface="Calibri"/>
              </a:rPr>
              <a:t>7.4%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8036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Fastest-growing major economy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874519"/>
            <a:ext cx="2743200" cy="2560320"/>
          </a:xfrm>
          <a:prstGeom prst="rect">
            <a:avLst/>
          </a:prstGeom>
          <a:solidFill>
            <a:srgbClr val="F8F9FA"/>
          </a:solidFill>
          <a:ln w="25400">
            <a:solidFill>
              <a:srgbClr val="2E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874519"/>
            <a:ext cx="2743200" cy="274320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9272" y="1892807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Public Capex Surge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9272" y="2212848"/>
            <a:ext cx="25968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4A7A"/>
                </a:solidFill>
                <a:latin typeface="Calibri"/>
              </a:rPr>
              <a:t>↑ 40% YoY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88036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In H1 – government-led push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874519"/>
            <a:ext cx="2743200" cy="2560320"/>
          </a:xfrm>
          <a:prstGeom prst="rect">
            <a:avLst/>
          </a:prstGeom>
          <a:solidFill>
            <a:srgbClr val="F8F9FA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874519"/>
            <a:ext cx="2743200" cy="2743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1892807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Aggregate Investment (GFCF)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2212848"/>
            <a:ext cx="25968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39C12"/>
                </a:solidFill>
                <a:latin typeface="Calibri"/>
              </a:rPr>
              <a:t>30%–33.8%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288036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of GDP – stagnating band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1874519"/>
            <a:ext cx="2743200" cy="2560320"/>
          </a:xfrm>
          <a:prstGeom prst="rect">
            <a:avLst/>
          </a:prstGeom>
          <a:solidFill>
            <a:srgbClr val="F8F9FA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61120" y="1874519"/>
            <a:ext cx="2743200" cy="2743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34272" y="1892807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The Execution Gap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34272" y="2212848"/>
            <a:ext cx="25968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74C3C"/>
                </a:solidFill>
                <a:latin typeface="Calibri"/>
              </a:rPr>
              <a:t>21.5% vs 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288036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RBI projected rise; NIPFP shows actual project completions contracted in 2024-25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46634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CCCC"/>
                </a:solidFill>
                <a:latin typeface="Calibri"/>
              </a:rPr>
              <a:t>Sources: RBI Monetary Policy Report, NIPFP Investment Tracker, MoSPI National Accounts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7043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 "Tale of Two Economies"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777240"/>
            <a:ext cx="5623560" cy="5394960"/>
          </a:xfrm>
          <a:prstGeom prst="rect">
            <a:avLst/>
          </a:prstGeom>
          <a:solidFill>
            <a:srgbClr val="E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777240"/>
            <a:ext cx="562356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95528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🟢  NEW ECONOMY  —  Full Throttle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258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Sectors:
  • Semiconductors
  • Electric Vehicles (EVs)
  • Renewable Energy
  • Electronics &amp; Contract Mfg
Trajectory:
  Aggressive greenfield expansions; deeply integrating
  into global supply chains via China+1 realignment.
  MEC ranges: 15%–25% — clears every hurdle rate.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6792" y="777240"/>
            <a:ext cx="5623560" cy="539496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36792" y="777240"/>
            <a:ext cx="562356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795528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🔴  OLD ECONOMY  —  Rational Caution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13258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Sectors:
  • FMCG (HUL, Dabur, Parle-G)
  • Basic Metals (JSW Steel)
  • Textiles (Welspun India)
  • Core Infrastructure
Trajectory:
  Deferring capacity additions; focusing on
  maximising existing plant efficiency.
  MEC ranges: 8%–10% — barely clears hurdle rate.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42432" y="2834640"/>
            <a:ext cx="704088" cy="70408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42432" y="2834640"/>
            <a:ext cx="70408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7043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Investment Decision — Theory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11612880" cy="123444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</a:rPr>
              <a:t>Keynesian Investment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A firm invests ONLY if   MEC &gt; Real Interest Rate (r)
Fisher Equation:   r  =  i  −  π      (Real Rate = Nominal Rate − Inflation)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4884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libri"/>
              </a:rPr>
              <a:t>India's Current Hurdle Rate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578608"/>
            <a:ext cx="11612880" cy="713232"/>
          </a:xfrm>
          <a:prstGeom prst="rect">
            <a:avLst/>
          </a:prstGeom>
          <a:solidFill>
            <a:srgbClr val="F8F9FA"/>
          </a:solidFill>
          <a:ln w="12700">
            <a:solidFill>
              <a:srgbClr val="2E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578608"/>
            <a:ext cx="164592" cy="713232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3347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alibri"/>
              </a:rPr>
              <a:t>Nominal Repo Rate  (i)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1518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4A7A"/>
                </a:solidFill>
                <a:latin typeface="Calibri"/>
              </a:rPr>
              <a:t>5.25%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7004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  <a:latin typeface="Calibri"/>
              </a:rPr>
              <a:t>(after cumulative 125 bps cuts)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401568"/>
            <a:ext cx="11612880" cy="713232"/>
          </a:xfrm>
          <a:prstGeom prst="rect">
            <a:avLst/>
          </a:prstGeom>
          <a:solidFill>
            <a:srgbClr val="F8F9FA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401568"/>
            <a:ext cx="164592" cy="7132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4564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alibri"/>
              </a:rPr>
              <a:t>Current CPI Inflation  (π)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43814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7AE60"/>
                </a:solidFill>
                <a:latin typeface="Calibri"/>
              </a:rPr>
              <a:t>1.7%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49300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  <a:latin typeface="Calibri"/>
              </a:rPr>
              <a:t>(remarkably subdued)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224528"/>
            <a:ext cx="11612880" cy="713232"/>
          </a:xfrm>
          <a:prstGeom prst="rect">
            <a:avLst/>
          </a:prstGeom>
          <a:solidFill>
            <a:srgbClr val="F8F9FA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4224528"/>
            <a:ext cx="164592" cy="7132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27939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alibri"/>
              </a:rPr>
              <a:t>Effective Real Rate  (r)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26110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74C3C"/>
                </a:solidFill>
                <a:latin typeface="Calibri"/>
              </a:rPr>
              <a:t>3.55%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31596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  <a:latin typeface="Calibri"/>
              </a:rPr>
              <a:t>(= 5.25% − 1.7%  — remains restrictive)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102352"/>
            <a:ext cx="11612880" cy="6583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1389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📌  Macro Takeaway:  Because inflation is so low, real borrowing costs remain highly restrictive despite RBI rate cuts.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7043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Investment Decision — Corporate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4A7A"/>
                </a:solidFill>
                <a:latin typeface="Calibri"/>
              </a:rPr>
              <a:t>Go / No-Go Decision  |  Hurdle Rate = 3.55%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88720"/>
            <a:ext cx="5623560" cy="4892040"/>
          </a:xfrm>
          <a:prstGeom prst="rect">
            <a:avLst/>
          </a:prstGeom>
          <a:solidFill>
            <a:srgbClr val="E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88720"/>
            <a:ext cx="562356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0700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🟢  NEW ECONOMY  —  MEC &gt; Hurdle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MEC Range:  15% – 25%
Tata Electronics (iPhone mfg.)
  → MEC: 18–22%  ✓ Clears hurdle
Adani Green Energy (solar)
  → IRRs: 14–16%  ✓ Clears hurdle
Both easily exceed the 3.55% real cost of capital.
Investment is proceeding at full speed.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36792" y="1188720"/>
            <a:ext cx="5623560" cy="48920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36792" y="1188720"/>
            <a:ext cx="5623560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20700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🔴  OLD ECONOMY  —  MEC ≈ Hurdle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169164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MEC Range:  8% – 10%
JSW Steel — Dolvi Phase 3
  → MEC: ~9–10% at current prices
  → Prompted deferral of expansion
ITC — Food Processing Plant
  → Deferred ₹3,000 crore plant
  → Failed to clear cost-of-capital test
Rational managerial discipline — not panic.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7043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Broken Keynesian Multiplier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11612880" cy="5943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Theory:  Multiplier (k) = 1 / (1 − MPC).  Massive public infrastructure spending should cascade into a broad consumption &amp; investment boom.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11612880" cy="38404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9047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Reality:  The multiplier is severely dampened by three key domestic leakages.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65960"/>
            <a:ext cx="3657600" cy="3291840"/>
          </a:xfrm>
          <a:prstGeom prst="rect">
            <a:avLst/>
          </a:prstGeom>
          <a:solidFill>
            <a:srgbClr val="F8F9FA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965960"/>
            <a:ext cx="3657600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9842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Leakage 1 — Debt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42316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Household debt surged to a record
41.3% of GDP.
Income is leaking into EMI
payments before reaching
the real economy.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965960"/>
            <a:ext cx="3657600" cy="3291840"/>
          </a:xfrm>
          <a:prstGeom prst="rect">
            <a:avLst/>
          </a:prstGeom>
          <a:solidFill>
            <a:srgbClr val="F8F9FA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59" y="1965960"/>
            <a:ext cx="3657600" cy="38404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399" y="19842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Leakage 2 — Savings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42316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Net household financial savings
collapsed to a decadal low of
~5.3% of GDP.
Households are borrowing to
consume, not to invest.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965960"/>
            <a:ext cx="3657600" cy="3291840"/>
          </a:xfrm>
          <a:prstGeom prst="rect">
            <a:avLst/>
          </a:prstGeom>
          <a:solidFill>
            <a:srgbClr val="F8F9FA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965960"/>
            <a:ext cx="3657600" cy="38404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9842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Leakage 3 — Imports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42316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~80% of solar equipment &amp;
majority of semiconductor
components are imported.
Multiplier leaks abroad rather
than circulating domestically.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376672"/>
            <a:ext cx="11612880" cy="566928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40410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3333"/>
                </a:solidFill>
                <a:latin typeface="Calibri"/>
              </a:rPr>
              <a:t>Net result: Even as public Capex soars, the demand signal reaching firms is far weaker than the headline spending figure implies.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7043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Corporate Demand Shock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11612880" cy="41148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  <a:latin typeface="Calibri"/>
              </a:rPr>
              <a:t>Fragile, debt-driven consumption cannot send strong demand signals for new factory builds.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29844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Corporate Execution in FY25-26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737360"/>
          <a:ext cx="1161288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6440"/>
                <a:gridCol w="580644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Sector / Company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Happened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FMCG Deferrals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HUL &amp; Dabur flagged 'weak mass-market demand'. Rural volume growth stuck at 3–4%. HUL deferred a planned personal care unit.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Inventory Stress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Parle-G chose NOT to add new production lines in FY25 due to insufficient volume certainty in rural markets.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Auto Sector Hesitation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Hero MotoCorp delayed its ₹2,000 crore Rajasthan greenfield plant by 18 months due to sluggish rural recovery.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50749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E4A7A"/>
                </a:solidFill>
                <a:latin typeface="Calibri"/>
              </a:rPr>
              <a:t>Common thread: Weak rural demand signals — not financial constraints — are holding back Old Economy investment.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7043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Capacity Utilization Trap — Theory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4389120" cy="4114800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84124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2A4A"/>
                </a:solidFill>
                <a:latin typeface="Calibri"/>
              </a:rPr>
              <a:t>Capacity Gauge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98448"/>
            <a:ext cx="3383280" cy="50292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298448"/>
            <a:ext cx="2513777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56231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39C12"/>
                </a:solidFill>
                <a:latin typeface="Calibri"/>
              </a:rPr>
              <a:t>Current: 74.3%  (AMBER zone)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304288"/>
            <a:ext cx="3383280" cy="50292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304288"/>
            <a:ext cx="2706624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620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  <a:latin typeface="Calibri"/>
              </a:rPr>
              <a:t>Trigger Zone: 78%–80%  (GREEN zone)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310128"/>
            <a:ext cx="4206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333333"/>
                </a:solidFill>
                <a:latin typeface="Calibri"/>
              </a:rPr>
              <a:t>Traditional manufacturing is trapped in a waiting game —
rational firms will not invest until the gauge turns green.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777240"/>
            <a:ext cx="6995160" cy="4114800"/>
          </a:xfrm>
          <a:prstGeom prst="rect">
            <a:avLst/>
          </a:prstGeom>
          <a:solidFill>
            <a:srgbClr val="EBF5FB"/>
          </a:solidFill>
          <a:ln w="12700">
            <a:solidFill>
              <a:srgbClr val="2E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822960"/>
            <a:ext cx="6675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</a:rPr>
              <a:t>Theory  —  Operating in the SRAS Zone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1234440"/>
            <a:ext cx="66751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• Firms operate along the SRAS curve by adding
  shifts / labour to existing factories.
• Financially irrational to deploy capital to shift
  the LRAS curve until existing capacity is exhausted.
Key Numbers  (RBI OBICUS Survey):
  Current Aggregate CU:         74.3%
  Macro Threshold (capex boom):  78%–80%
  Below the threshold → firms rationally defer.
  Above the threshold → broad-based capex boom.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504748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CCCC"/>
                </a:solidFill>
                <a:latin typeface="Calibri"/>
              </a:rPr>
              <a:t>Source: RBI Order Books, Inventories and Capacity Utilisation Survey (OBICUS), Q2 FY26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7043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Capacity Utilization Trap — Corporate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E4A7A"/>
                </a:solidFill>
                <a:latin typeface="Calibri"/>
              </a:rPr>
              <a:t>Traffic-light framework: Where are India's major manufacturers right now?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234440"/>
            <a:ext cx="3749039" cy="4754880"/>
          </a:xfrm>
          <a:prstGeom prst="rect">
            <a:avLst/>
          </a:prstGeom>
          <a:solidFill>
            <a:srgbClr val="F8F9FA"/>
          </a:solidFill>
          <a:ln w="381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234440"/>
            <a:ext cx="3749039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5272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🔴  HOLDING 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517904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Utilization &lt; 75%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47088"/>
            <a:ext cx="347472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JSW Steel:
  Running at 72–74%.
  Deferred ₹40,000+ crore capacity expansion.
  Awaiting demand clarity before committing.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4528" y="1234440"/>
            <a:ext cx="3749039" cy="4754880"/>
          </a:xfrm>
          <a:prstGeom prst="rect">
            <a:avLst/>
          </a:prstGeom>
          <a:solidFill>
            <a:srgbClr val="F8F9FA"/>
          </a:solidFill>
          <a:ln w="381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234440"/>
            <a:ext cx="3749039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8" y="125272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🟡  ON THE BRINK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1517904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Utilization ~78%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1847088"/>
            <a:ext cx="347472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Welspun India:
  Operating MMF textile units at 78%.
  Holding off on Phase 2 expansion.
  Trigger: Sustained 80%+ for two quarters.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0456" y="1234440"/>
            <a:ext cx="3749039" cy="4754880"/>
          </a:xfrm>
          <a:prstGeom prst="rect">
            <a:avLst/>
          </a:prstGeom>
          <a:solidFill>
            <a:srgbClr val="F8F9FA"/>
          </a:solidFill>
          <a:ln w="381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0456" y="1234440"/>
            <a:ext cx="3749039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125272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🟢  TRIGGER FIRED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1517904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Utilization &gt; 80%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847088"/>
            <a:ext cx="347472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Maruti Suzuki:
  Manesar &amp; Gujarat plants crossed 85%.
  → Triggered ₹11,000 crore Kharkhoda plant.
Tata Motors:
  EV lines in Pune above 80%.
  → New battery-pack capacity immediately commissioned.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7043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Supply-Side Interventions &amp; PLI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11612880" cy="914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</a:rPr>
              <a:t>Theory  —  Supply-Side Economics &amp; Market Failure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When the free market fails to clear the hurdle rate for critical technologies, the State acts as a 'risk absorber' — artificially boosting MEC to crowd-in private investment.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828800"/>
            <a:ext cx="1161288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56231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The Policy Anchor:  Production Linked Incentive (PLI) Scheme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450592"/>
            <a:ext cx="11612880" cy="566928"/>
          </a:xfrm>
          <a:prstGeom prst="rect">
            <a:avLst/>
          </a:prstGeom>
          <a:solidFill>
            <a:srgbClr val="F8F9FA"/>
          </a:solidFill>
          <a:ln w="12700">
            <a:solidFill>
              <a:srgbClr val="2E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450592"/>
            <a:ext cx="137160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505456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Total Outlay:  ₹1.91 lakh crore  across  14 strategic sectors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108960"/>
            <a:ext cx="11612880" cy="566928"/>
          </a:xfrm>
          <a:prstGeom prst="rect">
            <a:avLst/>
          </a:prstGeom>
          <a:solidFill>
            <a:srgbClr val="F8F9FA"/>
          </a:solidFill>
          <a:ln w="12700">
            <a:solidFill>
              <a:srgbClr val="2E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108960"/>
            <a:ext cx="137160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16382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Mechanism:  Moves from input subsidies → links financial rewards directly to incremental sales &amp; production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67328"/>
            <a:ext cx="11612880" cy="566928"/>
          </a:xfrm>
          <a:prstGeom prst="rect">
            <a:avLst/>
          </a:prstGeom>
          <a:solidFill>
            <a:srgbClr val="F8F9FA"/>
          </a:solidFill>
          <a:ln w="12700">
            <a:solidFill>
              <a:srgbClr val="2E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767328"/>
            <a:ext cx="137160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822191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Effect on MEC:  Artificially raises the effective return on new capacity, making the Go / No-Go calculus viable in critical tech sectors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425696"/>
            <a:ext cx="11612880" cy="566928"/>
          </a:xfrm>
          <a:prstGeom prst="rect">
            <a:avLst/>
          </a:prstGeom>
          <a:solidFill>
            <a:srgbClr val="F8F9FA"/>
          </a:solidFill>
          <a:ln w="12700">
            <a:solidFill>
              <a:srgbClr val="2E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4425696"/>
            <a:ext cx="137160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480559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Target sectors:  Semiconductors • EVs • Batteries • Specialty Chemicals • Pharmaceuticals • Mobile Phones • White Goods • Solar PV • Textiles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516636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CCCC"/>
                </a:solidFill>
                <a:latin typeface="Calibri"/>
              </a:rPr>
              <a:t>Source: DPIIT PLI Annual Report FY25; Ministry of Finance Budget Documents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7043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Sectoral Divergence in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777240"/>
            <a:ext cx="5577840" cy="5394960"/>
          </a:xfrm>
          <a:prstGeom prst="rect">
            <a:avLst/>
          </a:prstGeom>
          <a:solidFill>
            <a:srgbClr val="E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777240"/>
            <a:ext cx="557784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95528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🟢  THE BOOMING WINNERS  —  Electronics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2588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Domestic electronics production:
  ↑ 146%  to  ₹5.45 lakh crore
Mobile phone imports:
  ↓ 77%  (import-substitution working)
Tata Electronics &amp; Powerchip:
  $11 billion semiconductor fab — Dholera
Micron Technology:
  ₹22,000 crore ATMP facility — Sanand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777240"/>
            <a:ext cx="5577840" cy="539496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777240"/>
            <a:ext cx="557784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795528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🔴  THE LAGGING TRADITIONAL SECTORS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32588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Index of Eight Core Industries:
  Near-zero growth in October 2025
PLI for MMF Textiles:
  Only ₹1,100 crore invested
  vs ₹10,683 crore target  (10% uptake)
Core infrastructure:
  Capacity utilization stuck below 75%
  across cement, steel, power sectors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7043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Corporate Balance Sheets vs. Crowding 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11612880" cy="960120"/>
          </a:xfrm>
          <a:prstGeom prst="rect">
            <a:avLst/>
          </a:prstGeom>
          <a:solidFill>
            <a:srgbClr val="E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  <a:latin typeface="Calibri"/>
              </a:rPr>
              <a:t>"Twin Balance Sheet Advantage"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33856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Unlike the 2010s (NPA crisis era), corporate India is highly deleveraged with record profitability. Internal financial ability to invest is exceptionally strong.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874519"/>
            <a:ext cx="5394960" cy="3840480"/>
          </a:xfrm>
          <a:prstGeom prst="rect">
            <a:avLst/>
          </a:prstGeom>
          <a:solidFill>
            <a:srgbClr val="EBF5FB"/>
          </a:solidFill>
          <a:ln w="12700">
            <a:solidFill>
              <a:srgbClr val="2E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874519"/>
            <a:ext cx="5394960" cy="384048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92807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IS-LM Theory  —  Crowding Out Mechanism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31720"/>
            <a:ext cx="51206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1.  Massive government infrastructure spending
    shifts IS curve outward  →
2.  Sovereign borrowing absorbs domestic savings
    →
3.  Upward pressure on equilibrium interest rates
    →
4.  'Crowding out' private investment
   r*  ↑  →  MEC of marginal projects
   no longer clears hurdle  →  deferral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874519"/>
            <a:ext cx="6035040" cy="3840480"/>
          </a:xfrm>
          <a:prstGeom prst="rect">
            <a:avLst/>
          </a:prstGeom>
          <a:solidFill>
            <a:srgbClr val="FEF9E7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0" y="1874519"/>
            <a:ext cx="6035040" cy="38404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892807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India's Reality  —  Partial Crowding 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331720"/>
            <a:ext cx="57607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Large corporates have bypassed the squeeze:
  → Record profit retention funds capex internally
  → Access to corporate bond markets &amp; private credit
MSMEs face the full crowding-out effect:
  → Dependent on commercial bank lending
  → Cost of debt remains above their MEC
  → Expansions are being delayed
Net verdict: Crowding out is real but sector-specific.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7043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Bypassing the Squeeze — Private Credit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</a:rPr>
              <a:t>Two Diverging Paths in the Capital 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88720"/>
            <a:ext cx="5577840" cy="4800600"/>
          </a:xfrm>
          <a:prstGeom prst="rect">
            <a:avLst/>
          </a:prstGeom>
          <a:solidFill>
            <a:srgbClr val="E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88720"/>
            <a:ext cx="5577840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07008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🟢  LARGE CORPORATIONS  —  Immune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19072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Bypassing domestic banking squeeze via:
  Corporate Bond Market:
    Direct placement at competitive spreads
  Private Credit Market:
    Surged 35%  →  US$12.4 billion in CY 2025
    (Blackstone, KKR, Ares deploying actively)
  Internal Accruals:
    Record FY25 profits fund capex internally
Effect: Effectively insulated from rate environment.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36792" y="1188720"/>
            <a:ext cx="5577840" cy="48006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36792" y="1188720"/>
            <a:ext cx="5577840" cy="43891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207008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🔴  MSMEs &amp; TRADITIONAL MFG  —  Priced 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1719072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Rely entirely on:
  Commercial Bank Loans
    Spread above repo; effective rate ~9–10%
  NBFCs
    Even higher effective borrowing costs
The Crowding-Out Math:
  Borrowing cost:  ~9–10%
  Old Economy MEC: ~8–10%
  → Margin of safety = zero or negative
Factory expansions are being deferred.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7043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Energy-Digital Mismatch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11612880" cy="77724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</a:rPr>
              <a:t>Theory  —  Complementary Capital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5214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To sustainably shift LRAS rightward via high-tech manufacturing, proportionate expansion in energy infrastructure is essential.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64208"/>
            <a:ext cx="11612880" cy="804672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"New Economy" anchors ($11 billion fabs &amp; AI data centers) are massively energy-intensive. Without synchronized power boom, operational costs rise — destroying MEC.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6060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</a:rPr>
              <a:t>Policy Response — Energy Security Roadmap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035808"/>
            <a:ext cx="11612880" cy="713232"/>
          </a:xfrm>
          <a:prstGeom prst="rect">
            <a:avLst/>
          </a:prstGeom>
          <a:solidFill>
            <a:srgbClr val="F8F9FA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3035808"/>
            <a:ext cx="164592" cy="7132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072384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SHANTI Act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090672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₹20,000 crore Nuclear Energy Mission for Small Modular Reactors (SMRs).
Target: 100 GW nuclear capacity by 2047. Low-carbon baseload for fabs &amp; data centres.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840480"/>
            <a:ext cx="11612880" cy="713232"/>
          </a:xfrm>
          <a:prstGeom prst="rect">
            <a:avLst/>
          </a:prstGeom>
          <a:solidFill>
            <a:srgbClr val="F8F9FA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840480"/>
            <a:ext cx="164592" cy="7132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77056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  <a:latin typeface="Calibri"/>
              </a:rPr>
              <a:t>CCUS Initiative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895344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₹20,000 crore for Carbon Capture &amp; Utilisation infrastructure in heavy industries.
Focus: Green steel production — makes India's steel export-competitive.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645152"/>
            <a:ext cx="11612880" cy="713232"/>
          </a:xfrm>
          <a:prstGeom prst="rect">
            <a:avLst/>
          </a:prstGeom>
          <a:solidFill>
            <a:srgbClr val="F8F9FA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4645152"/>
            <a:ext cx="164592" cy="71323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68172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  <a:latin typeface="Calibri"/>
              </a:rPr>
              <a:t>Renewable Push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700016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450 GW renewable target by 2030. Solar + storage to power EV charging networks.
Adani Green, NTPC, and Torrent Power all commissioning gigawatt-scale projects.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7043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Corporate Action in Green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4A7A"/>
                </a:solidFill>
                <a:latin typeface="Calibri"/>
              </a:rPr>
              <a:t>How Private Capital is Responding to the Energy-Digital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11612880" cy="1051560"/>
          </a:xfrm>
          <a:prstGeom prst="rect">
            <a:avLst/>
          </a:prstGeom>
          <a:solidFill>
            <a:srgbClr val="F8F9FA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201168" cy="10515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075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Larsen &amp; Toubro (L&amp;T)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55064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Constructing India's largest green hydrogen plant at Indian Oil's Panipat refinery.
Positions L&amp;T as the dominant EPC contractor for the energy transition — recurring revenue model.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423160"/>
            <a:ext cx="11612880" cy="1051560"/>
          </a:xfrm>
          <a:prstGeom prst="rect">
            <a:avLst/>
          </a:prstGeom>
          <a:solidFill>
            <a:srgbClr val="F8F9FA"/>
          </a:solidFill>
          <a:ln w="25400">
            <a:solidFill>
              <a:srgbClr val="1A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423160"/>
            <a:ext cx="201168" cy="105156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4963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C8A"/>
                </a:solidFill>
                <a:latin typeface="Calibri"/>
              </a:rPr>
              <a:t>Adani Green Energy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43784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Deploying ₹2.4 lakh crore capex pipeline to feed digital &amp; industrial power demand.
Locked-in long-term Power Purchase Agreements (PPAs) yield IRRs of 14–16%,
comfortably beating the 3.55% real cost of capital.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611880"/>
            <a:ext cx="11612880" cy="1051560"/>
          </a:xfrm>
          <a:prstGeom prst="rect">
            <a:avLst/>
          </a:prstGeom>
          <a:solidFill>
            <a:srgbClr val="F8F9FA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611880"/>
            <a:ext cx="201168" cy="10515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68503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  <a:latin typeface="Calibri"/>
              </a:rPr>
              <a:t>NTPC Green Energy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032504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100 GW renewable capacity target. Hybrid solar-wind-storage complexes.
Offtake guaranteed by PSU and industrial consumers — virtually zero merchant risk.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800600"/>
            <a:ext cx="11612880" cy="1051560"/>
          </a:xfrm>
          <a:prstGeom prst="rect">
            <a:avLst/>
          </a:prstGeom>
          <a:solidFill>
            <a:srgbClr val="F8F9FA"/>
          </a:solidFill>
          <a:ln w="25400">
            <a:solidFill>
              <a:srgbClr val="6C3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800600"/>
            <a:ext cx="201168" cy="1051560"/>
          </a:xfrm>
          <a:prstGeom prst="rect">
            <a:avLst/>
          </a:prstGeom>
          <a:solidFill>
            <a:srgbClr val="6C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8737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3A8F"/>
                </a:solidFill>
                <a:latin typeface="Calibri"/>
              </a:rPr>
              <a:t>Tata Power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221224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Pumped hydro storage + rooftop solar + EV charging network.
Complementary capex: each MW of storage unlocks additional renewable MEC.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0350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Calibri"/>
              </a:rPr>
              <a:t>Net result: Energy-transition investments achieve IRRs of 14–16% — well above the 3.55% hurdle rate.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7043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Global Competitive Positioning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11612880" cy="914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</a:rPr>
              <a:t>Theory  —  Open Economy Macro &amp; International Risk Premiums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33856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When international risk premiums shift (e.g., US-China trade fragmentation), global capital reallocates to stable economies.
Competitiveness = 'Strategic Indispensability' in global supply chains.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288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Key Numbers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86000"/>
            <a:ext cx="11612880" cy="804672"/>
          </a:xfrm>
          <a:prstGeom prst="rect">
            <a:avLst/>
          </a:prstGeom>
          <a:solidFill>
            <a:srgbClr val="F8F9FA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286000"/>
            <a:ext cx="164592" cy="8046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Global Greenfield FDI  (H1 2025)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32257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7AE60"/>
                </a:solidFill>
                <a:latin typeface="Calibri"/>
              </a:rPr>
              <a:t>↑ 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3774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  <a:latin typeface="Calibri"/>
              </a:rPr>
              <a:t>Project values surged globally even as overall FDI dropped.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246120"/>
            <a:ext cx="11612880" cy="804672"/>
          </a:xfrm>
          <a:prstGeom prst="rect">
            <a:avLst/>
          </a:prstGeom>
          <a:solidFill>
            <a:srgbClr val="F8F9FA"/>
          </a:solidFill>
          <a:ln w="25400">
            <a:solidFill>
              <a:srgbClr val="2E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246120"/>
            <a:ext cx="164592" cy="804672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91839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India Gross FDI Inflows  (FY25)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28269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4A7A"/>
                </a:solidFill>
                <a:latin typeface="Calibri"/>
              </a:rPr>
              <a:t>USD 81.04 Bn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33756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  <a:latin typeface="Calibri"/>
              </a:rPr>
              <a:t>Resilient inflows despite global headwinds.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206240"/>
            <a:ext cx="11612880" cy="804672"/>
          </a:xfrm>
          <a:prstGeom prst="rect">
            <a:avLst/>
          </a:prstGeom>
          <a:solidFill>
            <a:srgbClr val="F8F9FA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4206240"/>
            <a:ext cx="164592" cy="80467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251959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China+1 Beneficiary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424281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39C12"/>
                </a:solidFill>
                <a:latin typeface="Calibri"/>
              </a:rPr>
              <a:t>#1 Ranked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297679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  <a:latin typeface="Calibri"/>
              </a:rPr>
              <a:t>India capturing largest share of supply-chain realignment.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5230368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CCCC"/>
                </a:solidFill>
                <a:latin typeface="Calibri"/>
              </a:rPr>
              <a:t>Source: UNCTAD World Investment Report 2025; RBI FDI Statistics; Financial Times fDi Markets database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7043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Capturing the "China+1"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E4A7A"/>
                </a:solidFill>
                <a:latin typeface="Calibri"/>
              </a:rPr>
              <a:t>India's window of strategic opportunity in global supply-chain realignment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11612880" cy="1024128"/>
          </a:xfrm>
          <a:prstGeom prst="rect">
            <a:avLst/>
          </a:prstGeom>
          <a:solidFill>
            <a:srgbClr val="F8F9FA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01168" cy="10241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6187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The Apple / iPhone Shift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9344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Apple successfully moved 14% of its global iPhone production to India in 2025.
Tata Electronics &amp; Foxconn now assembling for global export — not just domestic consumption.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377440"/>
            <a:ext cx="11612880" cy="1024128"/>
          </a:xfrm>
          <a:prstGeom prst="rect">
            <a:avLst/>
          </a:prstGeom>
          <a:solidFill>
            <a:srgbClr val="F8F9FA"/>
          </a:solidFill>
          <a:ln w="25400">
            <a:solidFill>
              <a:srgbClr val="2E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377440"/>
            <a:ext cx="201168" cy="1024128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45059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4A7A"/>
                </a:solidFill>
                <a:latin typeface="Calibri"/>
              </a:rPr>
              <a:t>Contract Manufacturing Surge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98064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Samsung, Foxconn, Jabil, and Pegatron are aggressively sourcing locally for export-grade electronics.
India's electronics export value crossed $29 billion in FY25 — up 24% YoY.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566160"/>
            <a:ext cx="11612880" cy="1024128"/>
          </a:xfrm>
          <a:prstGeom prst="rect">
            <a:avLst/>
          </a:prstGeom>
          <a:solidFill>
            <a:srgbClr val="F8F9FA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566160"/>
            <a:ext cx="201168" cy="10241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63931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  <a:latin typeface="Calibri"/>
              </a:rPr>
              <a:t>Semiconductor Market Projection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986784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India Semiconductor Mission projects domestic semiconductor market to hit ₹9.7 trillion by 2030.
Tata–Powerchip $11 billion fab &amp; Micron ₹22,000 crore ATMP already under construction.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754880"/>
            <a:ext cx="11612880" cy="1024128"/>
          </a:xfrm>
          <a:prstGeom prst="rect">
            <a:avLst/>
          </a:prstGeom>
          <a:solidFill>
            <a:srgbClr val="F8F9FA"/>
          </a:solidFill>
          <a:ln w="25400">
            <a:solidFill>
              <a:srgbClr val="5D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754880"/>
            <a:ext cx="201168" cy="1024128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82803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D6D7E"/>
                </a:solidFill>
                <a:latin typeface="Calibri"/>
              </a:rPr>
              <a:t>Defence &amp; Aerospace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175504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India's defence exports surged to ₹21,083 crore in FY24 (2x in three years).
HAL, BEL, and private OEMs integrating into US &amp; European supply chains post-Ukraine conflict.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7043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Final Verdict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11612880" cy="5486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Is Private Investment Still Not Picking Up?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11612880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11247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NO — It is NOT structurally stagnant. The economy is selectively booming while traditional sectors exercise rational managerial discipline.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2103120"/>
            <a:ext cx="5577840" cy="3931920"/>
          </a:xfrm>
          <a:prstGeom prst="rect">
            <a:avLst/>
          </a:prstGeom>
          <a:solidFill>
            <a:srgbClr val="E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2103120"/>
            <a:ext cx="5577840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121408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🟢  'New Economy' IS BOOMING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70048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Sectors: High-tech, EV, Renewables, Semiconductors
MEC Range: 15%–25%  →  clears 3.55% hurdle easily
PLI scheme acts as government risk-absorber,
making marginal projects commercially viable.
FDI + China+1 supply chain integration providing
additional demand certainty.
Greenfield investments proceeding at full pace.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2103120"/>
            <a:ext cx="5577840" cy="393192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2103120"/>
            <a:ext cx="5577840" cy="4754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121408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🔴  'Old Economy' IS WAITING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70048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Sectors: FMCG, Steel, Textiles, Core Infra
MEC Range: 8%–10%  →  borderline viable
Trapped by 74.3% capacity utilization —
below the 78–80% trigger threshold.
Broken domestic multiplier:
  • Household debt at 41.3% of GDP
  • Rural wage growth subdued
Rational deferral — not corporate failure.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7043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Triggers &amp; Corporate Action Plan (FY26-27)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🚀  The Launchpad:  Corporate India is fueled, positioned, and awaiting the final macroeconomic demand signal.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07008"/>
            <a:ext cx="5577840" cy="3474720"/>
          </a:xfrm>
          <a:prstGeom prst="rect">
            <a:avLst/>
          </a:prstGeom>
          <a:solidFill>
            <a:srgbClr val="EBF5FB"/>
          </a:solidFill>
          <a:ln w="12700">
            <a:solidFill>
              <a:srgbClr val="2E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07008"/>
            <a:ext cx="5577840" cy="402336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2529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The Final Triggers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53035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Trigger 1 — Demand:
  Aggregate demand must push capacity utilization
  consistently past the 80% SRAS boundary.
  (Current: 74.3%  →  Gap: ~6 percentage points)
Trigger 2 — Interest Rates:
  Real interest rates must normalize to make MSME
  borrowing commercially viable.
  (Current: 3.55%  →  Target: sub-2.5% real)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207008"/>
            <a:ext cx="5760720" cy="3474720"/>
          </a:xfrm>
          <a:prstGeom prst="rect">
            <a:avLst/>
          </a:prstGeom>
          <a:solidFill>
            <a:srgbClr val="EAF7EE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207008"/>
            <a:ext cx="5760720" cy="40233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22529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Action Plan for Corporate Planners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91640"/>
            <a:ext cx="54864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Action 1 — Stop evaluating purely for domestic
  consumption demand.
  Highest ROIs are currently in integrating domestic
  plants into China+1 global supply chains.
Action 2 — Prepare for the Turn.
  Corporate balance sheets at a decadal best.
  Firms possess the capital — they are simply stationed
  on the launchpad awaiting the final
  macroeconomic demand signal.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828032"/>
            <a:ext cx="1161288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87375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Conclusion:  India's investment story is not broken — it is bifurcated.
The macroeconomic triggers to unlock broad-based private capex are identifiable, measurable, and closer than the headlines suggest.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